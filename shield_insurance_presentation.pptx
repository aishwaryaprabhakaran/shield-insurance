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14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ln>
              <a:solidFill>
                <a:srgbClr val="00E5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Nov'22</c:v>
                </c:pt>
                <c:pt idx="1">
                  <c:v>Dec'22</c:v>
                </c:pt>
                <c:pt idx="2">
                  <c:v>Jan'23</c:v>
                </c:pt>
                <c:pt idx="3">
                  <c:v>Feb'23</c:v>
                </c:pt>
                <c:pt idx="4">
                  <c:v>Mar'23</c:v>
                </c:pt>
                <c:pt idx="5">
                  <c:v>Apr'23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132</c:v>
                </c:pt>
                <c:pt idx="1">
                  <c:v>156</c:v>
                </c:pt>
                <c:pt idx="2">
                  <c:v>141</c:v>
                </c:pt>
                <c:pt idx="3">
                  <c:v>143</c:v>
                </c:pt>
                <c:pt idx="4">
                  <c:v>264</c:v>
                </c:pt>
                <c:pt idx="5">
                  <c:v>154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97D-486F-8E24-1FE3CD9ABE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Customers (x100)</c:v>
                </c:pt>
              </c:strCache>
            </c:strRef>
          </c:tx>
          <c:spPr>
            <a:ln>
              <a:solidFill>
                <a:srgbClr val="FF572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Nov'22</c:v>
                </c:pt>
                <c:pt idx="1">
                  <c:v>Dec'22</c:v>
                </c:pt>
                <c:pt idx="2">
                  <c:v>Jan'23</c:v>
                </c:pt>
                <c:pt idx="3">
                  <c:v>Feb'23</c:v>
                </c:pt>
                <c:pt idx="4">
                  <c:v>Mar'23</c:v>
                </c:pt>
                <c:pt idx="5">
                  <c:v>Apr'23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14.5</c:v>
                </c:pt>
                <c:pt idx="1">
                  <c:v>29.5</c:v>
                </c:pt>
                <c:pt idx="2">
                  <c:v>28</c:v>
                </c:pt>
                <c:pt idx="3">
                  <c:v>29</c:v>
                </c:pt>
                <c:pt idx="4">
                  <c:v>48</c:v>
                </c:pt>
                <c:pt idx="5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97D-486F-8E24-1FE3CD9ABE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8F9CAE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  <c:spPr>
        <a:solidFill>
          <a:schemeClr val="bg1"/>
        </a:solidFill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00E5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Sheet1!$A$2:$A$6</c:f>
              <c:strCache>
                <c:ptCount val="5"/>
                <c:pt idx="0">
                  <c:v>Delhi NCR</c:v>
                </c:pt>
                <c:pt idx="1">
                  <c:v>Mumbai</c:v>
                </c:pt>
                <c:pt idx="2">
                  <c:v>Hyderabad</c:v>
                </c:pt>
                <c:pt idx="3">
                  <c:v>Chennai</c:v>
                </c:pt>
                <c:pt idx="4">
                  <c:v>Indore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402</c:v>
                </c:pt>
                <c:pt idx="1">
                  <c:v>240</c:v>
                </c:pt>
                <c:pt idx="2">
                  <c:v>161</c:v>
                </c:pt>
                <c:pt idx="3">
                  <c:v>106</c:v>
                </c:pt>
                <c:pt idx="4">
                  <c:v>81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DDC-47EA-AEC8-97D516655A8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overlay val="0"/>
      <c:spPr>
        <a:solidFill>
          <a:schemeClr val="bg1"/>
        </a:solidFill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Offline-Agent</c:v>
                </c:pt>
                <c:pt idx="1">
                  <c:v>Online-App</c:v>
                </c:pt>
                <c:pt idx="2">
                  <c:v>Offline-Direct</c:v>
                </c:pt>
                <c:pt idx="3">
                  <c:v>Online-Website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16</c:v>
                </c:pt>
                <c:pt idx="2">
                  <c:v>15</c:v>
                </c:pt>
                <c:pt idx="3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9A-46C5-89EF-2EE08651DA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overlay val="0"/>
      <c:txPr>
        <a:bodyPr/>
        <a:lstStyle/>
        <a:p>
          <a:pPr>
            <a:defRPr sz="900">
              <a:solidFill>
                <a:srgbClr val="8F9CAE"/>
              </a:solidFill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  <c:spPr>
        <a:solidFill>
          <a:schemeClr val="bg2"/>
        </a:solidFill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Registrations (K)</c:v>
                </c:pt>
              </c:strCache>
            </c:strRef>
          </c:tx>
          <c:spPr>
            <a:solidFill>
              <a:srgbClr val="FF572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7</c:v>
                </c:pt>
                <c:pt idx="6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CBE-4291-B42F-47C433E6B6D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  <c:spPr>
        <a:solidFill>
          <a:schemeClr val="bg1"/>
        </a:solidFill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 (K)</c:v>
                </c:pt>
              </c:strCache>
            </c:strRef>
          </c:tx>
          <c:spPr>
            <a:solidFill>
              <a:srgbClr val="00E5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Sheet1!$A$2:$A$7</c:f>
              <c:strCache>
                <c:ptCount val="6"/>
                <c:pt idx="0">
                  <c:v>18-24</c:v>
                </c:pt>
                <c:pt idx="1">
                  <c:v>25-30</c:v>
                </c:pt>
                <c:pt idx="2">
                  <c:v>31-40</c:v>
                </c:pt>
                <c:pt idx="3">
                  <c:v>41-50</c:v>
                </c:pt>
                <c:pt idx="4">
                  <c:v>51-65</c:v>
                </c:pt>
                <c:pt idx="5">
                  <c:v>65+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1.5</c:v>
                </c:pt>
                <c:pt idx="1">
                  <c:v>2.9</c:v>
                </c:pt>
                <c:pt idx="2">
                  <c:v>9.9</c:v>
                </c:pt>
                <c:pt idx="3">
                  <c:v>6.8</c:v>
                </c:pt>
                <c:pt idx="4">
                  <c:v>3.4</c:v>
                </c:pt>
                <c:pt idx="5">
                  <c:v>2.4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F5-4317-BD24-2F5AEF53CCC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  <c:spPr>
        <a:solidFill>
          <a:schemeClr val="bg2"/>
        </a:solidFill>
      </c:sp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Settlement Rate (%)</c:v>
                </c:pt>
              </c:strCache>
            </c:strRef>
          </c:tx>
          <c:spPr>
            <a:solidFill>
              <a:srgbClr val="FF5722"/>
            </a:solidFill>
          </c:spPr>
          <c:invertIfNegative val="1"/>
          <c:dLbls>
            <c:dLbl>
              <c:idx val="1"/>
              <c:spPr>
                <a:solidFill>
                  <a:schemeClr val="bg1"/>
                </a:solidFill>
                <a:ln>
                  <a:noFill/>
                </a:ln>
                <a:effectLst/>
              </c:spPr>
              <c:txPr>
                <a:bodyPr vertOverflow="overflow" horzOverflow="overflow" wrap="square" lIns="38100" tIns="19050" rIns="38100" bIns="19050" anchor="ctr">
                  <a:normAutofit/>
                </a:bodyPr>
                <a:lstStyle/>
                <a:p>
                  <a:pPr>
                    <a:defRPr/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CBCE-43A5-B084-9B15C41C148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65000"/>
                    <a:lumOff val="35000"/>
                  </a:prstClr>
                </a:solidFill>
              </a:ln>
              <a:effectLst/>
            </c:sp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</c15:spPr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65+</c:v>
                </c:pt>
                <c:pt idx="1">
                  <c:v>51-65</c:v>
                </c:pt>
                <c:pt idx="2">
                  <c:v>41-50</c:v>
                </c:pt>
                <c:pt idx="3">
                  <c:v>31-40</c:v>
                </c:pt>
                <c:pt idx="4">
                  <c:v>25-30</c:v>
                </c:pt>
                <c:pt idx="5">
                  <c:v>18-24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74.3</c:v>
                </c:pt>
                <c:pt idx="1">
                  <c:v>65.400000000000006</c:v>
                </c:pt>
                <c:pt idx="2">
                  <c:v>60.8</c:v>
                </c:pt>
                <c:pt idx="3">
                  <c:v>53.5</c:v>
                </c:pt>
                <c:pt idx="4">
                  <c:v>45.7</c:v>
                </c:pt>
                <c:pt idx="5">
                  <c:v>37.5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BCE-43A5-B084-9B15C41C1488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spPr>
          <a:ln>
            <a:solidFill>
              <a:srgbClr val="283246"/>
            </a:solidFill>
          </a:ln>
        </c:spPr>
        <c:txPr>
          <a:bodyPr/>
          <a:lstStyle/>
          <a:p>
            <a:pPr>
              <a:defRPr sz="900">
                <a:solidFill>
                  <a:srgbClr val="8F9CAE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80682" y="454080"/>
            <a:ext cx="32979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E5FF"/>
                </a:solidFill>
                <a:latin typeface="Arial"/>
              </a:rPr>
              <a:t>SHIELD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3600" b="1" dirty="0">
                <a:solidFill>
                  <a:srgbClr val="FFFFFF"/>
                </a:solidFill>
                <a:latin typeface="Arial"/>
              </a:rPr>
              <a:t>Translating Customer &amp; Channel Insights into
</a:t>
            </a:r>
            <a:r>
              <a:rPr sz="4000" b="1" dirty="0">
                <a:solidFill>
                  <a:srgbClr val="00E5FF"/>
                </a:solidFill>
                <a:latin typeface="Arial"/>
              </a:rPr>
              <a:t>Strategic Growth Decisions</a:t>
            </a:r>
          </a:p>
          <a:p>
            <a:r>
              <a:rPr sz="1600" dirty="0">
                <a:solidFill>
                  <a:srgbClr val="8F9CAE"/>
                </a:solidFill>
                <a:latin typeface="Arial"/>
              </a:rPr>
              <a:t>Executive Briefing for Shield Insurance Management Team | FY 2022 - 2023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397256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 dirty="0">
                <a:solidFill>
                  <a:srgbClr val="8F9CAE"/>
                </a:solidFill>
              </a:rPr>
              <a:t>PRESENTER: </a:t>
            </a:r>
            <a:r>
              <a:rPr lang="en-IN" sz="1100" dirty="0">
                <a:solidFill>
                  <a:srgbClr val="FFFFFF"/>
                </a:solidFill>
              </a:rPr>
              <a:t>Aishwarya Prabhakaran </a:t>
            </a:r>
            <a:r>
              <a:rPr sz="900" b="1" dirty="0">
                <a:solidFill>
                  <a:srgbClr val="8F9CAE"/>
                </a:solidFill>
              </a:rPr>
              <a:t>TIMEFRAME: </a:t>
            </a:r>
            <a:r>
              <a:rPr sz="1100" dirty="0">
                <a:solidFill>
                  <a:srgbClr val="FFFFFF"/>
                </a:solidFill>
              </a:rPr>
              <a:t>Nov 2022 - Apr 2023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160AC-101E-DED6-4642-8C6030171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46" y="0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OVERALL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Establishing a </a:t>
            </a:r>
            <a:r>
              <a:rPr sz="2400" b="1">
                <a:solidFill>
                  <a:srgbClr val="00E5FF"/>
                </a:solidFill>
                <a:latin typeface="Arial"/>
              </a:rPr>
              <a:t>Robust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FFFFFF"/>
                </a:solidFill>
                <a:latin typeface="Arial"/>
              </a:rPr>
              <a:t>₹989M</a:t>
            </a: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TOTAL REVENUE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Strong Market Footprint</a:t>
            </a:r>
            <a:r>
              <a:rPr sz="1400" dirty="0">
                <a:solidFill>
                  <a:srgbClr val="D1D5DB"/>
                </a:solidFill>
                <a:latin typeface="Arial"/>
              </a:rPr>
              <a:t>: Reached ₹989M in gross premiums across 27,000 policyholders in just 6 months.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Scalable Infrastructure</a:t>
            </a:r>
            <a:r>
              <a:rPr sz="1400" dirty="0">
                <a:solidFill>
                  <a:srgbClr val="D1D5DB"/>
                </a:solidFill>
                <a:latin typeface="Arial"/>
              </a:rPr>
              <a:t>: Demonstrates a high-capacity growth baseline to acquire and service premium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E5FF"/>
                </a:solidFill>
                <a:latin typeface="Arial"/>
              </a:rPr>
              <a:t>₹36,630
</a:t>
            </a:r>
          </a:p>
          <a:p>
            <a:pPr algn="ctr"/>
            <a:r>
              <a:rPr sz="1300" b="1">
                <a:solidFill>
                  <a:srgbClr val="8F9CAE"/>
                </a:solidFill>
                <a:latin typeface="Arial"/>
              </a:rPr>
              <a:t>Average Revenue per Customer (ARPU)
</a:t>
            </a:r>
            <a:r>
              <a:rPr sz="1200" i="1">
                <a:solidFill>
                  <a:srgbClr val="D1D5DB"/>
                </a:solidFill>
                <a:latin typeface="Arial"/>
              </a:rPr>
              <a:t>This ARPU serves as our primary benchmark yield to evaluate subsequent marketing campaigns and channel profitability.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CA4CC9-64F7-0842-1D88-BAD240CE1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7006" y="-13394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05B93E-0CE7-B1E3-723D-0C6EA91E4027}"/>
              </a:ext>
            </a:extLst>
          </p:cNvPr>
          <p:cNvSpPr txBox="1"/>
          <p:nvPr/>
        </p:nvSpPr>
        <p:spPr>
          <a:xfrm>
            <a:off x="3017520" y="1832375"/>
            <a:ext cx="216130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Arial"/>
              </a:rPr>
              <a:t>27K</a:t>
            </a:r>
          </a:p>
          <a:p>
            <a:r>
              <a:rPr lang="en-IN" sz="1000" b="1" dirty="0">
                <a:solidFill>
                  <a:srgbClr val="8F9CAE"/>
                </a:solidFill>
                <a:latin typeface="Arial"/>
              </a:rPr>
              <a:t>TOTAL CUSTOMERS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GROWTH 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Rapid Month-on-Month </a:t>
            </a:r>
            <a:r>
              <a:rPr sz="2400" b="1">
                <a:solidFill>
                  <a:srgbClr val="00E5FF"/>
                </a:solidFill>
                <a:latin typeface="Arial"/>
              </a:rPr>
              <a:t>Growth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3083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00E5FF"/>
                </a:solidFill>
                <a:latin typeface="Arial"/>
              </a:rPr>
              <a:t>+18.4%</a:t>
            </a: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MOM REVENUE GROWTH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Aligned Acceleration</a:t>
            </a:r>
            <a:r>
              <a:rPr sz="1400" dirty="0">
                <a:solidFill>
                  <a:srgbClr val="D1D5DB"/>
                </a:solidFill>
                <a:latin typeface="Arial"/>
              </a:rPr>
              <a:t>: Customer registrations and revenues grew in lockstep at over </a:t>
            </a:r>
            <a:r>
              <a:rPr sz="1400" b="1" dirty="0">
                <a:solidFill>
                  <a:srgbClr val="00E5FF"/>
                </a:solidFill>
                <a:latin typeface="Arial"/>
              </a:rPr>
              <a:t>18% MoM</a:t>
            </a:r>
            <a:r>
              <a:rPr sz="1400" dirty="0">
                <a:solidFill>
                  <a:srgbClr val="D1D5DB"/>
                </a:solidFill>
                <a:latin typeface="Arial"/>
              </a:rPr>
              <a:t>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March Peak</a:t>
            </a:r>
            <a:r>
              <a:rPr sz="1400" dirty="0">
                <a:solidFill>
                  <a:srgbClr val="D1D5DB"/>
                </a:solidFill>
                <a:latin typeface="Arial"/>
              </a:rPr>
              <a:t>: Monthly revenues skyrocketed to </a:t>
            </a:r>
            <a:r>
              <a:rPr sz="1400" b="1" dirty="0">
                <a:solidFill>
                  <a:srgbClr val="00E5FF"/>
                </a:solidFill>
                <a:latin typeface="Arial"/>
              </a:rPr>
              <a:t>₹264M</a:t>
            </a:r>
            <a:r>
              <a:rPr sz="1400" dirty="0">
                <a:solidFill>
                  <a:srgbClr val="D1D5DB"/>
                </a:solidFill>
                <a:latin typeface="Arial"/>
              </a:rPr>
              <a:t> (up from ₹143M in Feb), driven by tax-saving campaigns.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37A20E0-1FC0-4F50-0DEB-082538F4B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36CB02-4AE0-1A4C-754A-E56F8FFD956F}"/>
              </a:ext>
            </a:extLst>
          </p:cNvPr>
          <p:cNvSpPr txBox="1"/>
          <p:nvPr/>
        </p:nvSpPr>
        <p:spPr>
          <a:xfrm>
            <a:off x="3017520" y="1847733"/>
            <a:ext cx="208372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00E5FF"/>
                </a:solidFill>
                <a:latin typeface="Arial"/>
              </a:rPr>
              <a:t>+18.3%</a:t>
            </a:r>
          </a:p>
          <a:p>
            <a:r>
              <a:rPr lang="en-IN" sz="1000" b="1" dirty="0">
                <a:solidFill>
                  <a:srgbClr val="8F9CAE"/>
                </a:solidFill>
                <a:latin typeface="Arial"/>
              </a:rPr>
              <a:t>MOM CUSTOMER GROWTH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GEOGRAPHICAL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Delhi NCR is Our Primary </a:t>
            </a:r>
            <a:r>
              <a:rPr sz="2400" b="1">
                <a:solidFill>
                  <a:srgbClr val="00E5FF"/>
                </a:solidFill>
                <a:latin typeface="Arial"/>
              </a:rPr>
              <a:t>Revenue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FFFFFF"/>
                </a:solidFill>
                <a:latin typeface="Arial"/>
              </a:rPr>
              <a:t>₹402M</a:t>
            </a: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DELHI NCR REVENUE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Metro Dominance</a:t>
            </a:r>
            <a:r>
              <a:rPr sz="1400" dirty="0">
                <a:solidFill>
                  <a:srgbClr val="D1D5DB"/>
                </a:solidFill>
                <a:latin typeface="Arial"/>
              </a:rPr>
              <a:t>: Delhi NCR alone generates </a:t>
            </a:r>
            <a:r>
              <a:rPr sz="1400" b="1" dirty="0">
                <a:solidFill>
                  <a:srgbClr val="00E5FF"/>
                </a:solidFill>
                <a:latin typeface="Arial"/>
              </a:rPr>
              <a:t>41% of our entire business</a:t>
            </a:r>
            <a:r>
              <a:rPr sz="1400" dirty="0">
                <a:solidFill>
                  <a:srgbClr val="D1D5DB"/>
                </a:solidFill>
                <a:latin typeface="Arial"/>
              </a:rPr>
              <a:t> (₹402M revenue, 11K customers).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Concentration Risk</a:t>
            </a:r>
            <a:r>
              <a:rPr sz="1400" dirty="0">
                <a:solidFill>
                  <a:srgbClr val="D1D5DB"/>
                </a:solidFill>
                <a:latin typeface="Arial"/>
              </a:rPr>
              <a:t>: Since we rely heavily on Delhi, we must deploy retention programs to protect this core market.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689368"/>
              </p:ext>
            </p:extLst>
          </p:nvPr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6DA018B-1E7E-9F00-ED53-43591BE65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9483EC-1A8D-474D-F9FF-D664E66747F5}"/>
              </a:ext>
            </a:extLst>
          </p:cNvPr>
          <p:cNvSpPr txBox="1"/>
          <p:nvPr/>
        </p:nvSpPr>
        <p:spPr>
          <a:xfrm>
            <a:off x="3017520" y="1915733"/>
            <a:ext cx="23460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Arial"/>
              </a:rPr>
              <a:t>11K</a:t>
            </a:r>
          </a:p>
          <a:p>
            <a:r>
              <a:rPr lang="en-IN" sz="1000" b="1" dirty="0">
                <a:solidFill>
                  <a:srgbClr val="8F9CAE"/>
                </a:solidFill>
                <a:latin typeface="Arial"/>
              </a:rPr>
              <a:t>DELHI NCR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GEOGRAPHICAL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Mumbai &amp; Hyderabad are </a:t>
            </a:r>
            <a:r>
              <a:rPr sz="2400" b="1">
                <a:solidFill>
                  <a:srgbClr val="00E5FF"/>
                </a:solidFill>
                <a:latin typeface="Arial"/>
              </a:rPr>
              <a:t>Key Growth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463040"/>
            <a:ext cx="45720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FFFFFF"/>
                </a:solidFill>
                <a:latin typeface="Arial"/>
              </a:rPr>
              <a:t>₹240M</a:t>
            </a: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MUMBAI REVENUE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Secondary Pillars</a:t>
            </a:r>
            <a:r>
              <a:rPr sz="1400" dirty="0">
                <a:solidFill>
                  <a:srgbClr val="D1D5DB"/>
                </a:solidFill>
                <a:latin typeface="Arial"/>
              </a:rPr>
              <a:t>: Together they contribute </a:t>
            </a:r>
            <a:r>
              <a:rPr sz="1400" b="1" dirty="0">
                <a:solidFill>
                  <a:srgbClr val="00E5FF"/>
                </a:solidFill>
                <a:latin typeface="Arial"/>
              </a:rPr>
              <a:t>40% of overall company revenue</a:t>
            </a:r>
            <a:r>
              <a:rPr sz="1400" dirty="0">
                <a:solidFill>
                  <a:srgbClr val="D1D5DB"/>
                </a:solidFill>
                <a:latin typeface="Arial"/>
              </a:rPr>
              <a:t> (₹401M combined).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Revenue Density</a:t>
            </a:r>
            <a:r>
              <a:rPr sz="1400" dirty="0">
                <a:solidFill>
                  <a:srgbClr val="D1D5DB"/>
                </a:solidFill>
                <a:latin typeface="Arial"/>
              </a:rPr>
              <a:t>: Average revenue per customer is highly consistent (₹37.3K in Mumbai and ₹37.1K in Hyderabad), proving stable pricing execution.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8F9CAE"/>
                </a:solidFill>
              </a:rPr>
              <a:t>Average Ticket size comparison:
</a:t>
            </a:r>
          </a:p>
          <a:p>
            <a:pPr algn="ctr"/>
            <a:r>
              <a:rPr sz="3200" b="1">
                <a:solidFill>
                  <a:srgbClr val="00E5FF"/>
                </a:solidFill>
              </a:rPr>
              <a:t>₹37.3k / Customer
</a:t>
            </a:r>
            <a:r>
              <a:rPr sz="1000" b="1">
                <a:solidFill>
                  <a:srgbClr val="8F9CAE"/>
                </a:solidFill>
              </a:rPr>
              <a:t>MUMBAI
</a:t>
            </a:r>
          </a:p>
          <a:p>
            <a:pPr algn="ctr"/>
            <a:r>
              <a:rPr sz="3200" b="1">
                <a:solidFill>
                  <a:srgbClr val="00E5FF"/>
                </a:solidFill>
              </a:rPr>
              <a:t>₹37.1k / Customer
</a:t>
            </a:r>
            <a:r>
              <a:rPr sz="1000" b="1">
                <a:solidFill>
                  <a:srgbClr val="8F9CAE"/>
                </a:solidFill>
              </a:rPr>
              <a:t>HYDERABAD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90A5E8-3665-0E1A-D072-B35CD3673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5909" y="0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3FD387B-0477-0066-B38B-9ED033380B32}"/>
              </a:ext>
            </a:extLst>
          </p:cNvPr>
          <p:cNvSpPr txBox="1"/>
          <p:nvPr/>
        </p:nvSpPr>
        <p:spPr>
          <a:xfrm>
            <a:off x="3048000" y="1678477"/>
            <a:ext cx="298704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Arial"/>
              </a:rPr>
              <a:t>₹161M</a:t>
            </a:r>
          </a:p>
          <a:p>
            <a:r>
              <a:rPr lang="en-IN" sz="1000" b="1" dirty="0">
                <a:solidFill>
                  <a:srgbClr val="8F9CAE"/>
                </a:solidFill>
                <a:latin typeface="Arial"/>
              </a:rPr>
              <a:t>HYDERABAD REVENUE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GEOGRAPHICAL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Chennai &amp; Indore are </a:t>
            </a:r>
            <a:r>
              <a:rPr sz="2400" b="1">
                <a:solidFill>
                  <a:srgbClr val="00E5FF"/>
                </a:solidFill>
                <a:latin typeface="Arial"/>
              </a:rPr>
              <a:t>Untapped Frontiers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FFFFFF"/>
                </a:solidFill>
                <a:latin typeface="Arial"/>
              </a:rPr>
              <a:t>₹106M</a:t>
            </a: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CHENNAI REVENUE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Penetration Gaps</a:t>
            </a:r>
            <a:r>
              <a:rPr sz="1400" dirty="0">
                <a:solidFill>
                  <a:srgbClr val="D1D5DB"/>
                </a:solidFill>
                <a:latin typeface="Arial"/>
              </a:rPr>
              <a:t>: Chennai (₹106M) and Indore (₹81M) combined contribute less than 20% of total revenue.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Unlocked Frontier</a:t>
            </a:r>
            <a:r>
              <a:rPr sz="1400" dirty="0">
                <a:solidFill>
                  <a:srgbClr val="D1D5DB"/>
                </a:solidFill>
                <a:latin typeface="Arial"/>
              </a:rPr>
              <a:t>: These cities represent major upside potential where targeted local promotions can launch growth.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30352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8F9CAE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Market Penetration &amp; Gap Share:</a:t>
            </a:r>
            <a:r>
              <a:rPr sz="1400" dirty="0">
                <a:solidFill>
                  <a:srgbClr val="8F9CAE"/>
                </a:solidFill>
              </a:rPr>
              <a:t>
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Delhi NCR: 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41% - Saturated Core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Mumbai: 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24% - Established Pillar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Hyderabad: 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16% - Mature Base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Chennai: </a:t>
            </a:r>
            <a:r>
              <a:rPr sz="1400" b="1" dirty="0">
                <a:solidFill>
                  <a:srgbClr val="00E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11% - HIGH GROWTH POTENTIAL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Indore: </a:t>
            </a:r>
            <a:r>
              <a:rPr sz="1400" b="1" dirty="0">
                <a:solidFill>
                  <a:srgbClr val="00E5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8% - HIGH GROWTH POTENTIAL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6B0E9A-ABC3-B8D7-4B16-D122675C0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3" y="0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8D84D3-07C2-9507-C139-A95A5A991DAC}"/>
              </a:ext>
            </a:extLst>
          </p:cNvPr>
          <p:cNvSpPr txBox="1"/>
          <p:nvPr/>
        </p:nvSpPr>
        <p:spPr>
          <a:xfrm>
            <a:off x="3017520" y="1880754"/>
            <a:ext cx="257325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Arial"/>
              </a:rPr>
              <a:t>₹81M</a:t>
            </a:r>
          </a:p>
          <a:p>
            <a:r>
              <a:rPr lang="en-IN" sz="1000" b="1" dirty="0">
                <a:solidFill>
                  <a:srgbClr val="8F9CAE"/>
                </a:solidFill>
                <a:latin typeface="Arial"/>
              </a:rPr>
              <a:t>INDORE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CHANNEL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Offline Agents Drive </a:t>
            </a:r>
            <a:r>
              <a:rPr sz="2400" b="1">
                <a:solidFill>
                  <a:srgbClr val="00E5FF"/>
                </a:solidFill>
                <a:latin typeface="Arial"/>
              </a:rPr>
              <a:t>56% of Total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2523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r>
              <a:rPr sz="3600" b="1" dirty="0">
                <a:solidFill>
                  <a:srgbClr val="FFFFFF"/>
                </a:solidFill>
                <a:latin typeface="Arial"/>
              </a:rPr>
              <a:t>56%</a:t>
            </a:r>
            <a:r>
              <a:rPr lang="en-IN" sz="3600" b="1" dirty="0">
                <a:solidFill>
                  <a:srgbClr val="FFFFFF"/>
                </a:solidFill>
                <a:latin typeface="Arial"/>
              </a:rPr>
              <a:t>               </a:t>
            </a:r>
            <a:endParaRPr sz="3600" b="1" dirty="0">
              <a:solidFill>
                <a:srgbClr val="FFFFFF"/>
              </a:solidFill>
              <a:latin typeface="Arial"/>
            </a:endParaRPr>
          </a:p>
          <a:p>
            <a:r>
              <a:rPr sz="1000" b="1" dirty="0">
                <a:solidFill>
                  <a:srgbClr val="8F9CAE"/>
                </a:solidFill>
                <a:latin typeface="Arial"/>
              </a:rPr>
              <a:t>REVENUE SHARE</a:t>
            </a: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defRPr sz="800"/>
            </a:pPr>
            <a:endParaRPr sz="1000" b="1" dirty="0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Human Trust</a:t>
            </a:r>
            <a:r>
              <a:rPr sz="1400" dirty="0">
                <a:solidFill>
                  <a:srgbClr val="D1D5DB"/>
                </a:solidFill>
                <a:latin typeface="Arial"/>
              </a:rPr>
              <a:t>: Traditional agents remain our primary sales driver, accounting for ₹551M and 15,000 customers.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Consultative Sales</a:t>
            </a:r>
            <a:r>
              <a:rPr sz="1400" dirty="0">
                <a:solidFill>
                  <a:srgbClr val="D1D5DB"/>
                </a:solidFill>
                <a:latin typeface="Arial"/>
              </a:rPr>
              <a:t>: Personal advice and face-to-face trust continue to dominate the consumer buying experience.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9453756"/>
              </p:ext>
            </p:extLst>
          </p:nvPr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61DAA69-CE6F-EB95-176C-2E12CE782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0"/>
            <a:ext cx="1306947" cy="13069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39DA99-4F46-A8A0-F08E-BC40F25C61B0}"/>
              </a:ext>
            </a:extLst>
          </p:cNvPr>
          <p:cNvSpPr txBox="1"/>
          <p:nvPr/>
        </p:nvSpPr>
        <p:spPr>
          <a:xfrm>
            <a:off x="2621280" y="1894378"/>
            <a:ext cx="60960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rgbClr val="FFFFFF"/>
                </a:solidFill>
                <a:latin typeface="Arial"/>
              </a:rPr>
              <a:t>₹551M</a:t>
            </a:r>
          </a:p>
          <a:p>
            <a:r>
              <a:rPr lang="en-IN" sz="1000" b="1" dirty="0">
                <a:solidFill>
                  <a:srgbClr val="FFFFFF"/>
                </a:solidFill>
                <a:latin typeface="Arial"/>
              </a:rPr>
              <a:t>GROSS PREMIUM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CHANNEL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Digital Channels Contribute </a:t>
            </a:r>
            <a:r>
              <a:rPr sz="2400" b="1">
                <a:solidFill>
                  <a:srgbClr val="00E5FF"/>
                </a:solidFill>
                <a:latin typeface="Arial"/>
              </a:rPr>
              <a:t>29% of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r>
              <a:rPr sz="3600" b="1">
                <a:solidFill>
                  <a:srgbClr val="00E5FF"/>
                </a:solidFill>
                <a:latin typeface="Arial"/>
              </a:rPr>
              <a:t>29%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DIRECT DIGITAL SHARE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r>
              <a:rPr sz="3600" b="1">
                <a:solidFill>
                  <a:srgbClr val="00E5FF"/>
                </a:solidFill>
                <a:latin typeface="Arial"/>
              </a:rPr>
              <a:t>₹286M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DIRECT GROSS PREMIUMS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Direct Commission Savings</a:t>
            </a:r>
            <a:r>
              <a:rPr sz="1400">
                <a:solidFill>
                  <a:srgbClr val="D1D5DB"/>
                </a:solidFill>
                <a:latin typeface="Arial"/>
              </a:rPr>
              <a:t>: Online App (16%) and Website (13%) generated ₹286M with zero agent payout.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High Operating Margins</a:t>
            </a:r>
            <a:r>
              <a:rPr sz="1400">
                <a:solidFill>
                  <a:srgbClr val="D1D5DB"/>
                </a:solidFill>
                <a:latin typeface="Arial"/>
              </a:rPr>
              <a:t>: Scalable direct channel representing the highest net margin segment.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E5FF"/>
                </a:solidFill>
                <a:latin typeface="Arial"/>
              </a:rPr>
              <a:t>29%
</a:t>
            </a:r>
          </a:p>
          <a:p>
            <a:pPr algn="ctr"/>
            <a:r>
              <a:rPr sz="1300" b="1">
                <a:solidFill>
                  <a:srgbClr val="8F9CAE"/>
                </a:solidFill>
                <a:latin typeface="Arial"/>
              </a:rPr>
              <a:t>Direct Sales Revenue Mix
</a:t>
            </a:r>
            <a:r>
              <a:rPr sz="1200" i="1">
                <a:solidFill>
                  <a:srgbClr val="D1D5DB"/>
                </a:solidFill>
                <a:latin typeface="Arial"/>
              </a:rPr>
              <a:t>Acquired 7,000+ policyholders online. Direct-to-consumer digital channels provide the highest profit yield for our portfolio.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C975D-BFC9-7EFB-C721-5F2BF62E7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CHANNEL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Customer Registrations </a:t>
            </a:r>
            <a:r>
              <a:rPr sz="2400" b="1">
                <a:solidFill>
                  <a:srgbClr val="00E5FF"/>
                </a:solidFill>
                <a:latin typeface="Arial"/>
              </a:rPr>
              <a:t>Double on Weekends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r>
              <a:rPr sz="3600" b="1">
                <a:solidFill>
                  <a:srgbClr val="FF5722"/>
                </a:solidFill>
                <a:latin typeface="Arial"/>
              </a:rPr>
              <a:t>7K / day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WEEKEND REGISTRATIONS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3K / day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WEEKDAY AVERAGE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Leisure Decisions</a:t>
            </a:r>
            <a:r>
              <a:rPr sz="1400">
                <a:solidFill>
                  <a:srgbClr val="D1D5DB"/>
                </a:solidFill>
                <a:latin typeface="Arial"/>
              </a:rPr>
              <a:t>: Registrations surge to </a:t>
            </a:r>
            <a:r>
              <a:rPr sz="1400" b="1">
                <a:solidFill>
                  <a:srgbClr val="00E5FF"/>
                </a:solidFill>
                <a:latin typeface="Arial"/>
              </a:rPr>
              <a:t>7,000/day on Saturdays and Sundays</a:t>
            </a:r>
            <a:r>
              <a:rPr sz="1400">
                <a:solidFill>
                  <a:srgbClr val="D1D5DB"/>
                </a:solidFill>
                <a:latin typeface="Arial"/>
              </a:rPr>
              <a:t>, compared to 3,000/day on weekdays.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Operational Shift</a:t>
            </a:r>
            <a:r>
              <a:rPr sz="1400">
                <a:solidFill>
                  <a:srgbClr val="D1D5DB"/>
                </a:solidFill>
                <a:latin typeface="Arial"/>
              </a:rPr>
              <a:t>: Demands maximum online system capacity and immediate agent support follow-up on weekends.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8789"/>
              </p:ext>
            </p:extLst>
          </p:nvPr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ED8E0F0-425E-C209-5378-AF8EB0B92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31–40 Age Group is Our </a:t>
            </a:r>
            <a:r>
              <a:rPr sz="2400" b="1">
                <a:solidFill>
                  <a:srgbClr val="00E5FF"/>
                </a:solidFill>
                <a:latin typeface="Arial"/>
              </a:rPr>
              <a:t>Anchor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9.9K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ACTIVE POLICYHOLDERS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₹284M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GROSS PREMIUM REVENUE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Anchor Segment</a:t>
            </a:r>
            <a:r>
              <a:rPr sz="1400">
                <a:solidFill>
                  <a:srgbClr val="D1D5DB"/>
                </a:solidFill>
                <a:latin typeface="Arial"/>
              </a:rPr>
              <a:t>: Over </a:t>
            </a:r>
            <a:r>
              <a:rPr sz="1400" b="1">
                <a:solidFill>
                  <a:srgbClr val="00E5FF"/>
                </a:solidFill>
                <a:latin typeface="Arial"/>
              </a:rPr>
              <a:t>37% of our customers</a:t>
            </a:r>
            <a:r>
              <a:rPr sz="1400">
                <a:solidFill>
                  <a:srgbClr val="D1D5DB"/>
                </a:solidFill>
                <a:latin typeface="Arial"/>
              </a:rPr>
              <a:t> fall into the 31–40 age bracket (9.9K customers, ₹284M revenue).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Growth Focus</a:t>
            </a:r>
            <a:r>
              <a:rPr sz="1400">
                <a:solidFill>
                  <a:srgbClr val="D1D5DB"/>
                </a:solidFill>
                <a:latin typeface="Arial"/>
              </a:rPr>
              <a:t>: This segment is actively starting families, buying homes, and seeking comprehensive coverage.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510862"/>
              </p:ext>
            </p:extLst>
          </p:nvPr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5C02913-4345-9836-1D20-E45388A62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Mature Demographics Bring </a:t>
            </a:r>
            <a:r>
              <a:rPr sz="2400" b="1">
                <a:solidFill>
                  <a:srgbClr val="00E5FF"/>
                </a:solidFill>
                <a:latin typeface="Arial"/>
              </a:rPr>
              <a:t>Premium Ticket Sizes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₹213M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65+ SENIOR REVENUE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₹175M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51-65 MATURE REVENUE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High Value Premium</a:t>
            </a:r>
            <a:r>
              <a:rPr sz="1400">
                <a:solidFill>
                  <a:srgbClr val="D1D5DB"/>
                </a:solidFill>
                <a:latin typeface="Arial"/>
              </a:rPr>
              <a:t>: The 65+ age group spends </a:t>
            </a:r>
            <a:r>
              <a:rPr sz="1400" b="1">
                <a:solidFill>
                  <a:srgbClr val="00E5FF"/>
                </a:solidFill>
                <a:latin typeface="Arial"/>
              </a:rPr>
              <a:t>₹88.8K per policy</a:t>
            </a:r>
            <a:r>
              <a:rPr sz="1400">
                <a:solidFill>
                  <a:srgbClr val="D1D5DB"/>
                </a:solidFill>
                <a:latin typeface="Arial"/>
              </a:rPr>
              <a:t> on average.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Youth Comparison</a:t>
            </a:r>
            <a:r>
              <a:rPr sz="1400">
                <a:solidFill>
                  <a:srgbClr val="D1D5DB"/>
                </a:solidFill>
                <a:latin typeface="Arial"/>
              </a:rPr>
              <a:t>: The under-25 group spends just </a:t>
            </a:r>
            <a:r>
              <a:rPr sz="1400" b="1">
                <a:solidFill>
                  <a:srgbClr val="00E5FF"/>
                </a:solidFill>
                <a:latin typeface="Arial"/>
              </a:rPr>
              <a:t>₹13.7K per policy</a:t>
            </a:r>
            <a:r>
              <a:rPr sz="1400">
                <a:solidFill>
                  <a:srgbClr val="D1D5DB"/>
                </a:solidFill>
                <a:latin typeface="Arial"/>
              </a:rPr>
              <a:t> on average.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D1D5DB"/>
                </a:solidFill>
                <a:latin typeface="Arial"/>
              </a:rPr>
              <a:t>Older cohorts prioritize comprehensive coverage, making them highly premium revenue drivers.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201168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8F9CAE"/>
                </a:solidFill>
              </a:rPr>
              <a:t>Average Revenue per Customer:
</a:t>
            </a:r>
          </a:p>
          <a:p>
            <a:pPr algn="ctr"/>
            <a:r>
              <a:rPr sz="3200" b="1">
                <a:solidFill>
                  <a:srgbClr val="FF5722"/>
                </a:solidFill>
              </a:rPr>
              <a:t>₹88,787 / Customer
</a:t>
            </a:r>
            <a:r>
              <a:rPr sz="1000" b="1">
                <a:solidFill>
                  <a:srgbClr val="8F9CAE"/>
                </a:solidFill>
              </a:rPr>
              <a:t>65+ SENIORS
</a:t>
            </a:r>
          </a:p>
          <a:p>
            <a:pPr algn="ctr"/>
            <a:r>
              <a:rPr sz="2400" b="1">
                <a:solidFill>
                  <a:srgbClr val="D1D5DB"/>
                </a:solidFill>
              </a:rPr>
              <a:t>₹13,736 / Customer
</a:t>
            </a:r>
            <a:r>
              <a:rPr sz="1000" b="1">
                <a:solidFill>
                  <a:srgbClr val="8F9CAE"/>
                </a:solidFill>
              </a:rPr>
              <a:t>18-24 YOUTH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1F6AC9-30E5-3697-38F4-178D4F0D8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SETTLEMENT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Seniors Pose the Highest </a:t>
            </a:r>
            <a:r>
              <a:rPr sz="2400" b="1">
                <a:solidFill>
                  <a:srgbClr val="00E5FF"/>
                </a:solidFill>
                <a:latin typeface="Arial"/>
              </a:rPr>
              <a:t>Claim Settlement 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r>
              <a:rPr sz="3600" b="1">
                <a:solidFill>
                  <a:srgbClr val="FF5722"/>
                </a:solidFill>
                <a:latin typeface="Arial"/>
              </a:rPr>
              <a:t>74.3%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65+ SETTLEMENT RATE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r>
              <a:rPr sz="3600" b="1">
                <a:solidFill>
                  <a:srgbClr val="FFFFFF"/>
                </a:solidFill>
                <a:latin typeface="Arial"/>
              </a:rPr>
              <a:t>37.5%</a:t>
            </a:r>
          </a:p>
          <a:p>
            <a:r>
              <a:rPr sz="1000" b="1">
                <a:solidFill>
                  <a:srgbClr val="8F9CAE"/>
                </a:solidFill>
                <a:latin typeface="Arial"/>
              </a:rPr>
              <a:t>18-24 SETTLEMENT RATE</a:t>
            </a:r>
          </a:p>
          <a:p>
            <a:pPr>
              <a:defRPr sz="800"/>
            </a:pPr>
            <a:endParaRPr sz="1000" b="1">
              <a:solidFill>
                <a:srgbClr val="8F9CAE"/>
              </a:solidFill>
              <a:latin typeface="Arial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High Claim Payouts</a:t>
            </a:r>
            <a:r>
              <a:rPr sz="1400">
                <a:solidFill>
                  <a:srgbClr val="D1D5DB"/>
                </a:solidFill>
                <a:latin typeface="Arial"/>
              </a:rPr>
              <a:t>: The 65+ age group has a </a:t>
            </a:r>
            <a:r>
              <a:rPr sz="1400" b="1">
                <a:solidFill>
                  <a:srgbClr val="00E5FF"/>
                </a:solidFill>
                <a:latin typeface="Arial"/>
              </a:rPr>
              <a:t>74.3% claim settlement rate</a:t>
            </a:r>
            <a:r>
              <a:rPr sz="1400">
                <a:solidFill>
                  <a:srgbClr val="D1D5DB"/>
                </a:solidFill>
                <a:latin typeface="Arial"/>
              </a:rPr>
              <a:t> (vs 37.5% for youth).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Underwriting Pressure</a:t>
            </a:r>
            <a:r>
              <a:rPr sz="1400">
                <a:solidFill>
                  <a:srgbClr val="D1D5DB"/>
                </a:solidFill>
                <a:latin typeface="Arial"/>
              </a:rPr>
              <a:t>: Despite high premiums, high claims squeeze net margins on senior policies.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674676"/>
              </p:ext>
            </p:extLst>
          </p:nvPr>
        </p:nvGraphicFramePr>
        <p:xfrm>
          <a:off x="6035040" y="1645920"/>
          <a:ext cx="530352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80E9000A-12A6-9574-033C-5BF151DB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5053" y="0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PRODUCT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Policy Preferences Shift </a:t>
            </a:r>
            <a:r>
              <a:rPr sz="2400" b="1">
                <a:solidFill>
                  <a:srgbClr val="00E5FF"/>
                </a:solidFill>
                <a:latin typeface="Arial"/>
              </a:rPr>
              <a:t>Distinctly with 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Budget Starter</a:t>
            </a:r>
            <a:r>
              <a:rPr sz="1400">
                <a:solidFill>
                  <a:srgbClr val="D1D5DB"/>
                </a:solidFill>
                <a:latin typeface="Arial"/>
              </a:rPr>
              <a:t>: Younger policyholders (18–30) prefer budget health options (</a:t>
            </a:r>
            <a:r>
              <a:rPr sz="1400" b="1">
                <a:solidFill>
                  <a:srgbClr val="00E5FF"/>
                </a:solidFill>
                <a:latin typeface="Arial"/>
              </a:rPr>
              <a:t>POL4321HEL</a:t>
            </a:r>
            <a:r>
              <a:rPr sz="1400">
                <a:solidFill>
                  <a:srgbClr val="D1D5DB"/>
                </a:solidFill>
                <a:latin typeface="Arial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Family Protection</a:t>
            </a:r>
            <a:r>
              <a:rPr sz="1400">
                <a:solidFill>
                  <a:srgbClr val="D1D5DB"/>
                </a:solidFill>
                <a:latin typeface="Arial"/>
              </a:rPr>
              <a:t>: The 31–40 segment favors comprehensive health (</a:t>
            </a:r>
            <a:r>
              <a:rPr sz="1400" b="1">
                <a:solidFill>
                  <a:srgbClr val="00E5FF"/>
                </a:solidFill>
                <a:latin typeface="Arial"/>
              </a:rPr>
              <a:t>POL3309HEL</a:t>
            </a:r>
            <a:r>
              <a:rPr sz="1400">
                <a:solidFill>
                  <a:srgbClr val="D1D5DB"/>
                </a:solidFill>
                <a:latin typeface="Arial"/>
              </a:rPr>
              <a:t>).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0E5FF"/>
                </a:solidFill>
                <a:latin typeface="Arial"/>
              </a:rPr>
              <a:t>Seniors</a:t>
            </a:r>
            <a:r>
              <a:rPr sz="1400">
                <a:solidFill>
                  <a:srgbClr val="D1D5DB"/>
                </a:solidFill>
                <a:latin typeface="Arial"/>
              </a:rPr>
              <a:t>: Favor specialized coverage (</a:t>
            </a:r>
            <a:r>
              <a:rPr sz="1400" b="1">
                <a:solidFill>
                  <a:srgbClr val="00E5FF"/>
                </a:solidFill>
                <a:latin typeface="Arial"/>
              </a:rPr>
              <a:t>POL2005HEL</a:t>
            </a:r>
            <a:r>
              <a:rPr sz="1400">
                <a:solidFill>
                  <a:srgbClr val="D1D5DB"/>
                </a:solidFill>
                <a:latin typeface="Arial"/>
              </a:rPr>
              <a:t>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37464"/>
              </p:ext>
            </p:extLst>
          </p:nvPr>
        </p:nvGraphicFramePr>
        <p:xfrm>
          <a:off x="5303520" y="1645920"/>
          <a:ext cx="6126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F9CAE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Age Group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F9CAE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Preferred Policy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F9CAE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Count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8F9CAE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Target Focus</a:t>
                      </a:r>
                    </a:p>
                  </a:txBody>
                  <a:tcPr>
                    <a:solidFill>
                      <a:srgbClr val="141E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18-24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POL4321HEL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Affordable Starter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25-30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POL4321HEL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1,116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Standard Health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31-40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POL3309HEL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1,717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Family Protection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41-50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POL5319HEL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1,038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Premium Coverage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51-65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POL5319HEL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475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Comprehensive Care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65+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E5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POL2005HEL ⭐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rPr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Senior Care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43998B4-1A49-53BB-72E8-337FC9187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3" y="-13394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DECISION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Align Agent Capacity with </a:t>
            </a:r>
            <a:r>
              <a:rPr sz="2400" b="1">
                <a:solidFill>
                  <a:srgbClr val="00E5FF"/>
                </a:solidFill>
                <a:latin typeface="Arial"/>
              </a:rPr>
              <a:t>Customer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20824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Action Item</a:t>
            </a:r>
            <a:r>
              <a:rPr sz="1400" dirty="0">
                <a:solidFill>
                  <a:srgbClr val="D1D5DB"/>
                </a:solidFill>
                <a:latin typeface="Arial"/>
              </a:rPr>
              <a:t>: Dynamically restructure agent support and sales follow-up schedules to run at 100% capacity on weekends.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Target Regions</a:t>
            </a:r>
            <a:r>
              <a:rPr sz="1400" dirty="0">
                <a:solidFill>
                  <a:srgbClr val="D1D5DB"/>
                </a:solidFill>
                <a:latin typeface="Arial"/>
              </a:rPr>
              <a:t>: Deploy specialized agent expansion initiatives targeting underperforming Chennai and Indore.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2094637"/>
            <a:ext cx="5303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E5FF"/>
                </a:solidFill>
              </a:rPr>
              <a:t>👥 </a:t>
            </a:r>
            <a:r>
              <a:rPr sz="1400" b="1" dirty="0">
                <a:solidFill>
                  <a:srgbClr val="00E5FF"/>
                </a:solidFill>
                <a:latin typeface="Arial Black" panose="020B0A04020102020204" pitchFamily="34" charset="0"/>
              </a:rPr>
              <a:t>AGENT OPTIMIZATION STRATEGY</a:t>
            </a:r>
            <a:r>
              <a:rPr sz="1400" b="1" dirty="0">
                <a:solidFill>
                  <a:srgbClr val="00E5FF"/>
                </a:solidFill>
              </a:rPr>
              <a:t>
</a:t>
            </a:r>
          </a:p>
          <a:p>
            <a:pPr>
              <a:spcAft>
                <a:spcPts val="1200"/>
              </a:spcAft>
            </a:pPr>
            <a:r>
              <a:rPr sz="1300" b="1" dirty="0">
                <a:solidFill>
                  <a:srgbClr val="FFFFFF"/>
                </a:solidFill>
              </a:rPr>
              <a:t>•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Weekends: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Shift support desk schedules to match the weekend surge where customer acquisition doubles.</a:t>
            </a:r>
          </a:p>
          <a:p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Expansion: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Recruit and deploy agents to capture the ₹187M combined penetration gap in Chennai and Indore.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310C1-0B05-7474-809E-C713B0908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053" y="91440"/>
            <a:ext cx="1306947" cy="130694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DECISION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Adjust Terms and Pricing for the </a:t>
            </a:r>
            <a:r>
              <a:rPr sz="2400" b="1">
                <a:solidFill>
                  <a:srgbClr val="00E5FF"/>
                </a:solidFill>
                <a:latin typeface="Arial"/>
              </a:rPr>
              <a:t>High-Settlement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75104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Action Item</a:t>
            </a:r>
            <a:r>
              <a:rPr sz="1400" dirty="0">
                <a:solidFill>
                  <a:srgbClr val="D1D5DB"/>
                </a:solidFill>
                <a:latin typeface="Arial"/>
              </a:rPr>
              <a:t>: Adjust base premiums or terms for policyholders aged 65+ (specifically senior policies like POL2005HEL).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Co-Pay Clause</a:t>
            </a:r>
            <a:r>
              <a:rPr sz="1400" dirty="0">
                <a:solidFill>
                  <a:srgbClr val="D1D5DB"/>
                </a:solidFill>
                <a:latin typeface="Arial"/>
              </a:rPr>
              <a:t>: Introduce co-payment structures to share liability and protect underwriting margins.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1975104"/>
            <a:ext cx="5303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FF5722"/>
                </a:solidFill>
              </a:rPr>
              <a:t>⚖️ </a:t>
            </a:r>
            <a:r>
              <a:rPr sz="1400" b="1" dirty="0">
                <a:solidFill>
                  <a:srgbClr val="FF5722"/>
                </a:solidFill>
                <a:latin typeface="Arial Black" panose="020B0A04020102020204" pitchFamily="34" charset="0"/>
              </a:rPr>
              <a:t>RISK &amp; UNDERWRITING ADJUSTMENT</a:t>
            </a:r>
            <a:r>
              <a:rPr sz="1400" b="1" dirty="0">
                <a:solidFill>
                  <a:srgbClr val="FF5722"/>
                </a:solidFill>
              </a:rPr>
              <a:t>
</a:t>
            </a:r>
          </a:p>
          <a:p>
            <a:pPr>
              <a:spcAft>
                <a:spcPts val="1200"/>
              </a:spcAft>
            </a:pPr>
            <a:r>
              <a:rPr sz="1300" b="1" dirty="0">
                <a:solidFill>
                  <a:srgbClr val="FFFFFF"/>
                </a:solidFill>
              </a:rPr>
              <a:t>• </a:t>
            </a: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Actuarial Review: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Initiate structural review of POL2005HEL pricing to offset the high 74.3% claims rate.</a:t>
            </a:r>
          </a:p>
          <a:p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Co-Payment: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 copay parameters for seniors to optimize margins without diluting brand goodwill.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DECISION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Scale Digital Marketing for </a:t>
            </a:r>
            <a:r>
              <a:rPr sz="2400" b="1">
                <a:solidFill>
                  <a:srgbClr val="00E5FF"/>
                </a:solidFill>
                <a:latin typeface="Arial"/>
              </a:rPr>
              <a:t>Low-Risk Demographics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47088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Action Item</a:t>
            </a:r>
            <a:r>
              <a:rPr sz="1400" dirty="0">
                <a:solidFill>
                  <a:srgbClr val="D1D5DB"/>
                </a:solidFill>
                <a:latin typeface="Arial"/>
              </a:rPr>
              <a:t>: Direct marketing spend toward under-30 cohorts, who have low claim rates (37%-45%).</a:t>
            </a: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Direct Channel</a:t>
            </a:r>
            <a:r>
              <a:rPr sz="1400" dirty="0">
                <a:solidFill>
                  <a:srgbClr val="D1D5DB"/>
                </a:solidFill>
                <a:latin typeface="Arial"/>
              </a:rPr>
              <a:t>: Funnel users directly to Mobile App &amp; Website to save on intermediary agent commissions.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1856232"/>
            <a:ext cx="53035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E5FF"/>
                </a:solidFill>
              </a:rPr>
              <a:t>📱 </a:t>
            </a:r>
            <a:r>
              <a:rPr sz="1400" b="1" dirty="0">
                <a:solidFill>
                  <a:srgbClr val="00E5FF"/>
                </a:solidFill>
                <a:latin typeface="Arial Black" panose="020B0A04020102020204" pitchFamily="34" charset="0"/>
              </a:rPr>
              <a:t>DIGITAL ACQUISITION STRATEGY</a:t>
            </a:r>
            <a:r>
              <a:rPr sz="1400" b="1" dirty="0">
                <a:solidFill>
                  <a:srgbClr val="00E5FF"/>
                </a:solidFill>
              </a:rPr>
              <a:t>
</a:t>
            </a:r>
            <a:endParaRPr sz="1400" b="1" dirty="0">
              <a:solidFill>
                <a:srgbClr val="00E5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Target Ads: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Launch search and social media campaigns for POL4321HEL focusing on under-30 metropolitan populations.</a:t>
            </a:r>
          </a:p>
          <a:p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Online Funnel: </a:t>
            </a:r>
            <a:r>
              <a:rPr sz="1400" dirty="0">
                <a:solidFill>
                  <a:srgbClr val="D1D5D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 digital direct onboarding, avoiding agent payouts and capturing pure operating margins.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F9CAE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The Path Forward: </a:t>
            </a:r>
            <a:r>
              <a:rPr sz="2400" b="1">
                <a:solidFill>
                  <a:srgbClr val="00E5FF"/>
                </a:solidFill>
                <a:latin typeface="Arial"/>
              </a:rPr>
              <a:t>Profitable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1545336"/>
            <a:ext cx="4572000" cy="7078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dirty="0"/>
          </a:p>
          <a:p>
            <a:pPr>
              <a:spcAft>
                <a:spcPts val="1200"/>
              </a:spcAft>
            </a:pPr>
            <a:r>
              <a:rPr sz="1400" b="1" dirty="0">
                <a:solidFill>
                  <a:srgbClr val="00E5FF"/>
                </a:solidFill>
                <a:latin typeface="Arial"/>
              </a:rPr>
              <a:t>Q1 Focus</a:t>
            </a:r>
            <a:r>
              <a:rPr sz="1400" dirty="0">
                <a:solidFill>
                  <a:srgbClr val="D1D5DB"/>
                </a:solidFill>
                <a:latin typeface="Arial"/>
              </a:rPr>
              <a:t>: Re-align agent staffing, launch Chennai/Indore campaign, and scale youth digital 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39" y="3132051"/>
            <a:ext cx="11015287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>
                <a:solidFill>
                  <a:srgbClr val="00E5FF"/>
                </a:solidFill>
                <a:latin typeface="Arial Black" panose="020B0A04020102020204" pitchFamily="34" charset="0"/>
              </a:rPr>
              <a:t>STRATEGIC TIMELINE &amp; ROADMAP</a:t>
            </a:r>
            <a:r>
              <a:rPr sz="1400" b="1" dirty="0">
                <a:solidFill>
                  <a:srgbClr val="00E5FF"/>
                </a:solidFill>
              </a:rPr>
              <a:t>
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Phase 1: Channel Alignment (Q1)
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Deploy agents to weekends &amp; expand Chennai/Indore network.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Phase 2: Risk Management (Q2)
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Roll out pricing and copay terms a</a:t>
            </a:r>
            <a:r>
              <a:rPr lang="en-IN"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1400" dirty="0" err="1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djustments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senior policies.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• Phase 3: Digital Growth (Q2-Q3)
</a:t>
            </a:r>
            <a:r>
              <a:rPr sz="1400" dirty="0">
                <a:solidFill>
                  <a:srgbClr val="8F9CA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Scale direct-to-consumer digital acquisitions for under-30s.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A40E8-63A6-D697-6AB4-C8DFDE6605BC}"/>
              </a:ext>
            </a:extLst>
          </p:cNvPr>
          <p:cNvSpPr txBox="1"/>
          <p:nvPr/>
        </p:nvSpPr>
        <p:spPr>
          <a:xfrm>
            <a:off x="6096000" y="172356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400" b="1" dirty="0">
                <a:solidFill>
                  <a:srgbClr val="00E5FF"/>
                </a:solidFill>
                <a:latin typeface="Arial"/>
              </a:rPr>
              <a:t>Q2 Focus</a:t>
            </a:r>
            <a:r>
              <a:rPr lang="en-US" sz="1400" dirty="0">
                <a:solidFill>
                  <a:srgbClr val="D1D5DB"/>
                </a:solidFill>
                <a:latin typeface="Arial"/>
              </a:rPr>
              <a:t>: Complete actuarial review and roll out updated premium terms for senior citizens.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1286</Words>
  <Application>Microsoft Office PowerPoint</Application>
  <PresentationFormat>Widescreen</PresentationFormat>
  <Paragraphs>215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Aishwarya Gokulanandan</cp:lastModifiedBy>
  <cp:revision>2</cp:revision>
  <dcterms:created xsi:type="dcterms:W3CDTF">2013-01-27T09:14:16Z</dcterms:created>
  <dcterms:modified xsi:type="dcterms:W3CDTF">2026-07-06T10:39:04Z</dcterms:modified>
  <cp:category/>
</cp:coreProperties>
</file>